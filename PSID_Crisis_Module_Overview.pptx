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 Score</c:v>
                </c:pt>
              </c:strCache>
            </c:strRef>
          </c:tx>
          <c:spPr>
            <a:solidFill>
              <a:srgbClr val="2B6C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Evacuated from home</c:v>
                  </c:pt>
                  <c:pt idx="1">
                    <c:v>Work from home</c:v>
                  </c:pt>
                  <c:pt idx="2">
                    <c:v>Wages from this job</c:v>
                  </c:pt>
                  <c:pt idx="3">
                    <c:v>Stimulus payments</c:v>
                  </c:pt>
                  <c:pt idx="4">
                    <c:v>Financial coping (shutdown)</c:v>
                  </c:pt>
                  <c:pt idx="5">
                    <c:v>Paycheck protection</c:v>
                  </c:pt>
                  <c:pt idx="6">
                    <c:v>Essential work</c:v>
                  </c:pt>
                  <c:pt idx="7">
                    <c:v>Stopped this work</c:v>
                  </c:pt>
                  <c:pt idx="8">
                    <c:v>Received stimulus payment</c:v>
                  </c:pt>
                  <c:pt idx="9">
                    <c:v>Stopped working at business</c:v>
                  </c:pt>
                  <c:pt idx="10">
                    <c:v>Any financial difficulties</c:v>
                  </c:pt>
                  <c:pt idx="11">
                    <c:v>Lost earnings (pandemic)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3.503</c:v>
                </c:pt>
                <c:pt idx="1">
                  <c:v>3.957</c:v>
                </c:pt>
                <c:pt idx="2">
                  <c:v>4.337</c:v>
                </c:pt>
                <c:pt idx="3">
                  <c:v>4.466</c:v>
                </c:pt>
                <c:pt idx="4">
                  <c:v>4.592</c:v>
                </c:pt>
                <c:pt idx="5">
                  <c:v>5.212</c:v>
                </c:pt>
                <c:pt idx="6">
                  <c:v>5.223</c:v>
                </c:pt>
                <c:pt idx="7">
                  <c:v>5.825</c:v>
                </c:pt>
                <c:pt idx="8">
                  <c:v>6.002</c:v>
                </c:pt>
                <c:pt idx="9">
                  <c:v>6.523</c:v>
                </c:pt>
                <c:pt idx="10">
                  <c:v>7.187</c:v>
                </c:pt>
                <c:pt idx="11">
                  <c:v>7.809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Not Selected (24)</c:v>
                </c:pt>
              </c:strCache>
            </c:strRef>
          </c:tx>
          <c:spPr>
            <a:solidFill>
              <a:srgbClr val="2B6CB0"/>
            </a:solidFill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2B6CB0"/>
              </a:solidFill>
              <a:ln w="9525" cap="flat">
                <a:solidFill>
                  <a:srgbClr val="2B6CB0"/>
                </a:solidFill>
                <a:prstDash val="solid"/>
                <a:round/>
              </a:ln>
              <a:effectLst/>
            </c:spPr>
          </c:marker>
          <c:xVal>
            <c:numRef>
              <c:f>Sheet1!$A$2:$A$29</c:f>
              <c:numCache>
                <c:formatCode>General</c:formatCode>
                <c:ptCount val="28"/>
                <c:pt idx="0">
                  <c:v>1.7</c:v>
                </c:pt>
                <c:pt idx="1">
                  <c:v>3.4</c:v>
                </c:pt>
                <c:pt idx="2">
                  <c:v>1.4</c:v>
                </c:pt>
                <c:pt idx="3">
                  <c:v>1.4</c:v>
                </c:pt>
                <c:pt idx="4">
                  <c:v>2.2</c:v>
                </c:pt>
                <c:pt idx="5">
                  <c:v>3.6</c:v>
                </c:pt>
                <c:pt idx="6">
                  <c:v>6</c:v>
                </c:pt>
                <c:pt idx="7">
                  <c:v>1.4</c:v>
                </c:pt>
                <c:pt idx="8">
                  <c:v>0.7</c:v>
                </c:pt>
                <c:pt idx="9">
                  <c:v>0.7</c:v>
                </c:pt>
                <c:pt idx="10">
                  <c:v>4.5</c:v>
                </c:pt>
                <c:pt idx="11">
                  <c:v>3</c:v>
                </c:pt>
                <c:pt idx="12">
                  <c:v>4.5</c:v>
                </c:pt>
                <c:pt idx="13">
                  <c:v>4.5</c:v>
                </c:pt>
                <c:pt idx="14">
                  <c:v>2.5</c:v>
                </c:pt>
                <c:pt idx="15">
                  <c:v>5.5</c:v>
                </c:pt>
                <c:pt idx="16">
                  <c:v>4.5</c:v>
                </c:pt>
                <c:pt idx="17">
                  <c:v>3.2</c:v>
                </c:pt>
                <c:pt idx="18">
                  <c:v>2.3</c:v>
                </c:pt>
                <c:pt idx="19">
                  <c:v>3.6</c:v>
                </c:pt>
                <c:pt idx="20">
                  <c:v>2.7</c:v>
                </c:pt>
                <c:pt idx="21">
                  <c:v>1.7</c:v>
                </c:pt>
                <c:pt idx="22">
                  <c:v>3.7</c:v>
                </c:pt>
                <c:pt idx="23">
                  <c:v>0.5</c:v>
                </c:pt>
                <c:pt idx="24">
                  <c:v>2.5</c:v>
                </c:pt>
                <c:pt idx="25">
                  <c:v>2.7</c:v>
                </c:pt>
                <c:pt idx="26">
                  <c:v>1.4</c:v>
                </c:pt>
                <c:pt idx="27">
                  <c:v>1.4</c:v>
                </c:pt>
              </c:numCache>
            </c:numRef>
          </c:xVal>
          <c:yVal>
            <c:numRef>
              <c:f>Sheet1!$B$2:$B$29</c:f>
              <c:numCache>
                <c:formatCode>General</c:formatCode>
                <c:ptCount val="28"/>
                <c:pt idx="0">
                  <c:v>2.8</c:v>
                </c:pt>
                <c:pt idx="1">
                  <c:v>2.8</c:v>
                </c:pt>
                <c:pt idx="2">
                  <c:v>2.8</c:v>
                </c:pt>
                <c:pt idx="3">
                  <c:v>2.7</c:v>
                </c:pt>
                <c:pt idx="4">
                  <c:v>2.7</c:v>
                </c:pt>
                <c:pt idx="5">
                  <c:v>2.7</c:v>
                </c:pt>
                <c:pt idx="6">
                  <c:v>2.7</c:v>
                </c:pt>
                <c:pt idx="7">
                  <c:v>2.7</c:v>
                </c:pt>
                <c:pt idx="8">
                  <c:v>2.7</c:v>
                </c:pt>
                <c:pt idx="9">
                  <c:v>2.7</c:v>
                </c:pt>
                <c:pt idx="10">
                  <c:v>2.7</c:v>
                </c:pt>
                <c:pt idx="11">
                  <c:v>2.7</c:v>
                </c:pt>
                <c:pt idx="12">
                  <c:v>1.8</c:v>
                </c:pt>
                <c:pt idx="13">
                  <c:v>1.8</c:v>
                </c:pt>
                <c:pt idx="14">
                  <c:v>2.7</c:v>
                </c:pt>
                <c:pt idx="15">
                  <c:v>2.7</c:v>
                </c:pt>
                <c:pt idx="16">
                  <c:v>1.8</c:v>
                </c:pt>
                <c:pt idx="17">
                  <c:v>1.8</c:v>
                </c:pt>
                <c:pt idx="18">
                  <c:v>2.7</c:v>
                </c:pt>
                <c:pt idx="19">
                  <c:v>1.2</c:v>
                </c:pt>
                <c:pt idx="20">
                  <c:v>2.7</c:v>
                </c:pt>
                <c:pt idx="21">
                  <c:v>1.8</c:v>
                </c:pt>
                <c:pt idx="22">
                  <c:v>0.7</c:v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A556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spPr>
            <a:solidFill>
              <a:srgbClr val="38A1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Trauma / Health</c:v>
                  </c:pt>
                  <c:pt idx="1">
                    <c:v>Employment</c:v>
                  </c:pt>
                  <c:pt idx="2">
                    <c:v>Government Aid</c:v>
                  </c:pt>
                  <c:pt idx="3">
                    <c:v>Housing / Shelter</c:v>
                  </c:pt>
                  <c:pt idx="4">
                    <c:v>Economic / Income</c:v>
                  </c:pt>
                  <c:pt idx="5">
                    <c:v>Financial Coping</c:v>
                  </c:pt>
                  <c:pt idx="6">
                    <c:v>Demographics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13</c:v>
                </c:pt>
                <c:pt idx="1">
                  <c:v>7</c:v>
                </c:pt>
                <c:pt idx="2">
                  <c:v>5</c:v>
                </c:pt>
                <c:pt idx="3">
                  <c:v>5</c:v>
                </c:pt>
                <c:pt idx="4">
                  <c:v>4</c:v>
                </c:pt>
                <c:pt idx="5">
                  <c:v>3</c:v>
                </c:pt>
                <c:pt idx="6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Composition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B6CB0"/>
              </a:solidFill>
              <a:effectLst/>
            </c:spPr>
          </c:dPt>
          <c:dPt>
            <c:idx val="1"/>
            <c:bubble3D val="0"/>
            <c:spPr>
              <a:solidFill>
                <a:srgbClr val="D69E2E"/>
              </a:solidFill>
              <a:effectLst/>
            </c:spPr>
          </c:dPt>
          <c:dPt>
            <c:idx val="2"/>
            <c:bubble3D val="0"/>
            <c:spPr>
              <a:solidFill>
                <a:srgbClr val="C5303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Generic Core (7)</c:v>
                </c:pt>
                <c:pt idx="1">
                  <c:v>Financial Crisis (1)</c:v>
                </c:pt>
                <c:pt idx="2">
                  <c:v>Pandemic / Disaster (20)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7</c:v>
                </c:pt>
                <c:pt idx="1">
                  <c:v>1</c:v>
                </c:pt>
                <c:pt idx="2">
                  <c:v>20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A556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Generic Core (4.90 min)</c:v>
                </c:pt>
              </c:strCache>
            </c:strRef>
          </c:tx>
          <c:spPr>
            <a:solidFill>
              <a:srgbClr val="2B6C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Time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Financial Crisis (1.87 min)</c:v>
                </c:pt>
              </c:strCache>
            </c:strRef>
          </c:tx>
          <c:spPr>
            <a:solidFill>
              <a:srgbClr val="D69E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Time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1.87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Pandemic/Disaster (22.40 min)</c:v>
                </c:pt>
              </c:strCache>
            </c:strRef>
          </c:tx>
          <c:spPr>
            <a:solidFill>
              <a:srgbClr val="C5303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Time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22.4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Remaining (0.83 min)</c:v>
                </c:pt>
              </c:strCache>
            </c:strRef>
          </c:tx>
          <c:spPr>
            <a:solidFill>
              <a:srgbClr val="E2E8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Time</c:v>
                  </c:pt>
                </c:lvl>
              </c:multiLvlStrCache>
            </c:multiLvl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0.83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4A556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The PSID Generic Crisis Module uses a two-tier architecture: a Generic Core of 7 always-deployed questions plus Crisis-Specific toggles (Pandemic/Disaster, Financial Crisis, War/Conflict). 52 candidate questions were ranked using a dual NLP pipeline (RAKE + spaCy) with a Pi-enhanced priority scoring system, selecting 28 within a 30-minute time ceiling.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— Top Questions by Pi. The horizontal bar chart shows the 12 highest-scoring questions by the Enhanced Priority metric (Pi). Pi builds on the baseline Ri (Utility/Burden ratio) by incorporating keyword rarity (IDF), construct richness, cross-crisis portability, and redundancy penalty. The top scorer — 'Lost earnings because of the pandemic' — scores 7.809 because it has high utility (3.4), low burden (0.6), and hits two constructs (Economic/Income + Trauma/Health). Note that all top 12 were selected for the final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— Utility vs. Burden scatter. Each point is one of the 52 candidate questions. Blue dots are the 28 selected questions; gray dots are the 24 excluded. Selected items cluster in the upper-left (high utility, low burden) — confirming the scoring model picks efficient questions. The baseline Ri = Ui/Bi ranges from 0.54 to 5.667 (average 2.079). The formula: Ui sums taxonomy-matched keyword weights, Bi = 0.10 × word_count + 0.20 × complexity with a floor of 0.1.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— Construct Coverage. The vertical bar chart shows the distribution of the 28 selected questions across 7 constructs from the crisis taxonomy. Trauma/Health leads with 13 questions, followed by Employment (7), Government Aid (5), Housing/Shelter (5), Economic/Income (4), Financial Coping (3), and Demographics (3). The taxonomy contains 63 entries with expert-assigned weights across these 7 constructs.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— Time Budget &amp; Module Composition. Left: The doughnut shows that 20 of 28 selected questions come from the Pandemic/Disaster toggle, 7 from Generic Core, and 1 from Financial Crisis. Right: The stacked bar shows time allocation — Generic Core uses 4.90 min, Financial Crisis 1.87 min, Pandemic/Disaster 22.40 min, with 0.83 min remaining under the 30-minute ceiling. The full corpus would require 68.95 minutes — so the selected module achieves a 58% time reduction while retaining the highest-priority items.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— Computational Model Architecture. The pipeline has six stages: (1) Load 52 ranked questions from final CSV. (2) Dual NLP extraction: RAKE extracts multi-word keyphrases at score ≥1.0; spaCy (en_core_web_sm) performs noun-phrase chunking. (3) Baseline scoring: Utility Ui = sum of matched taxonomy weights across a 63-entry taxonomy with 7 constructs; Burden Bi = 0.10 × word_count + 0.20 × complexity (floor 0.1); Ri = Ui/Bi. (4) Enhanced Priority: Pi adds keyword rarity (IDF strength), construct richness bonus, cross-crisis portability, and subtracts redundancy penalty. (5) Recommendation engine produces 6 generic + 8 crisis-specific deployable wordings. (6) Synchronized outputs: Dashboard (HTML), Report (HTML), Figures (PNG), CSV, and Questionnaire Spec (DOCX).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— Recommendations &amp; What Changed. Left: Before/After comparison showing the transformation from a raw 52-question corpus to a compact 28-question module. Right: The 14 deployable recommendations split into 6 generic core wordings (always deployed) and 8 crisis-specific wordings (activated by toggle). Generic recommendations cover fundamental crisis impacts; crisis-specific ones target pandemic and disaster scenarios.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PSID Generic Crisis Module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Optimization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76656" y="3017520"/>
            <a:ext cx="1207008" cy="822960"/>
          </a:xfrm>
          <a:prstGeom prst="rect">
            <a:avLst/>
          </a:prstGeom>
          <a:solidFill>
            <a:srgbClr val="1A2332"/>
          </a:solidFill>
          <a:ln w="10160">
            <a:solidFill>
              <a:srgbClr val="2D374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76656" y="3035808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76656" y="349300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Ranked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993392" y="3017520"/>
            <a:ext cx="1207008" cy="822960"/>
          </a:xfrm>
          <a:prstGeom prst="rect">
            <a:avLst/>
          </a:prstGeom>
          <a:solidFill>
            <a:srgbClr val="1A2332"/>
          </a:solidFill>
          <a:ln w="10160">
            <a:solidFill>
              <a:srgbClr val="2D374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93392" y="3035808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993392" y="349300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10128" y="3017520"/>
            <a:ext cx="1207008" cy="822960"/>
          </a:xfrm>
          <a:prstGeom prst="rect">
            <a:avLst/>
          </a:prstGeom>
          <a:solidFill>
            <a:srgbClr val="1A2332"/>
          </a:solidFill>
          <a:ln w="10160">
            <a:solidFill>
              <a:srgbClr val="2D374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10128" y="3035808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29.17 min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10128" y="349300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Budget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26864" y="3017520"/>
            <a:ext cx="1207008" cy="822960"/>
          </a:xfrm>
          <a:prstGeom prst="rect">
            <a:avLst/>
          </a:prstGeom>
          <a:solidFill>
            <a:srgbClr val="1A2332"/>
          </a:solidFill>
          <a:ln w="10160">
            <a:solidFill>
              <a:srgbClr val="2D374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26864" y="3035808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7.809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626864" y="349300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Pi Score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0" y="3017520"/>
            <a:ext cx="1207008" cy="822960"/>
          </a:xfrm>
          <a:prstGeom prst="rect">
            <a:avLst/>
          </a:prstGeom>
          <a:solidFill>
            <a:srgbClr val="1A2332"/>
          </a:solidFill>
          <a:ln w="10160">
            <a:solidFill>
              <a:srgbClr val="2D374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0" y="3035808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943600" y="349300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60336" y="3017520"/>
            <a:ext cx="1207008" cy="822960"/>
          </a:xfrm>
          <a:prstGeom prst="rect">
            <a:avLst/>
          </a:prstGeom>
          <a:solidFill>
            <a:srgbClr val="1A2332"/>
          </a:solidFill>
          <a:ln w="10160">
            <a:solidFill>
              <a:srgbClr val="2D374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260336" y="3035808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260336" y="349300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42062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Two-Tier Architecture  •  Dual NLP Pipeline  •  Pi-Enhanced Scoring  •  Synchronized Artifacts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62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Questions by Enhanced Priority (Pi)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ranked by Pi — combining utility-to-burden ratio with rarity, construct richness, and portability bonuses.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82296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0" y="4434840"/>
            <a:ext cx="9144000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446227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scores range from 0.60 to 7.81 — the top 12 questions deliver highest crisis-signal density per minute of respondent burden.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484632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PSID_Ranked_Questions_Final.csv  |  PSID_NLP_Crisis_Module_Final.ipynb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62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Utility vs. Burden — Question Selection 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dot is a question. Selected items cluster in the high-utility / low-burden zone (upper-left).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82296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217920" y="1371600"/>
            <a:ext cx="2286000" cy="548640"/>
          </a:xfrm>
          <a:prstGeom prst="rect">
            <a:avLst/>
          </a:prstGeom>
          <a:solidFill>
            <a:srgbClr val="EBF8FF"/>
          </a:solidFill>
          <a:ln w="10160">
            <a:solidFill>
              <a:srgbClr val="BEE3F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309360" y="138988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 = Ui / Bi</a:t>
            </a:r>
            <a:endParaRPr lang="en-US" sz="13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Ri = 2.079  |  Max Ri = 5.667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0" y="4434840"/>
            <a:ext cx="9144000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446227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questions occupy the efficient frontier — maximizing utility while minimizing respondent burden.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484632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PSID_Ranked_Questions_Final.csv  |  Ui = sum of taxonomy-weighted keywords, Bi = 0.10×word_count + 0.20×complexity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62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 Coverage in Selected Module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the 28 selected questions across 7 crisis-relevant constructs defined in the taxonomy.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82296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0" y="4434840"/>
            <a:ext cx="9144000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446227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module covers all 7 constructs — Trauma/Health dominates (13 items), ensuring comprehensive crisis measurement.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484632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PSID_Ranked_Questions_Final.csv  |  63-entry crisis taxonomy, 7 constructs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62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Budget &amp; Module Composition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Composition (28 Questions)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463040"/>
          <a:ext cx="36576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754880" y="1005840"/>
            <a:ext cx="40233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846320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Budget (30-min ceiling)</a:t>
            </a:r>
            <a:endParaRPr lang="en-US" sz="14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4937760" y="1554480"/>
          <a:ext cx="3657600" cy="1097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5029200" y="3200400"/>
            <a:ext cx="109728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029200" y="321868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A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29.17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029200" y="37490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Used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263640" y="3200400"/>
            <a:ext cx="109728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263640" y="321868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6C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30.00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6263640" y="37490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7498080" y="3200400"/>
            <a:ext cx="109728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498080" y="321868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180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68.95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7498080" y="37490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Corpus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0" y="4434840"/>
            <a:ext cx="9144000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6"/>
          <p:cNvSpPr/>
          <p:nvPr/>
        </p:nvSpPr>
        <p:spPr>
          <a:xfrm>
            <a:off x="548640" y="446227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29.17 of 30 available minutes used — 58% time savings vs. deploying the full 52-question corpus (68.95 min).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57200" y="484632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PSID_Ranked_Questions_Final.csv  |  Minutes = estimated respondent time per question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62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Computational Model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Six-stage NLP pipeline from raw questions to synchronized outputs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54380" y="1417320"/>
            <a:ext cx="640080" cy="640080"/>
          </a:xfrm>
          <a:prstGeom prst="ellipse">
            <a:avLst/>
          </a:prstGeom>
          <a:solidFill>
            <a:srgbClr val="2C5282"/>
          </a:solidFill>
          <a:ln/>
          <a:effectLst>
            <a:outerShdw sx="100000" sy="100000" kx="0" ky="0" algn="bl" rotWithShape="0" blurRad="76200" dist="25400" dir="8100000">
              <a:srgbClr val="000000">
                <a:alpha val="2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1563624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62940" y="1325880"/>
            <a:ext cx="256032" cy="256032"/>
          </a:xfrm>
          <a:prstGeom prst="ellipse">
            <a:avLst/>
          </a:prstGeom>
          <a:solidFill>
            <a:srgbClr val="EBF8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2940" y="1325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21488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3776" y="2697480"/>
            <a:ext cx="116128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48640" y="274320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ranked items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final CSV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700784" y="1737360"/>
            <a:ext cx="146304" cy="0"/>
          </a:xfrm>
          <a:prstGeom prst="line">
            <a:avLst/>
          </a:prstGeom>
          <a:noFill/>
          <a:ln w="2540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153412" y="1417320"/>
            <a:ext cx="640080" cy="640080"/>
          </a:xfrm>
          <a:prstGeom prst="ellipse">
            <a:avLst/>
          </a:prstGeom>
          <a:solidFill>
            <a:srgbClr val="2B6CB0"/>
          </a:solidFill>
          <a:ln/>
          <a:effectLst>
            <a:outerShdw sx="100000" sy="100000" kx="0" ky="0" algn="bl" rotWithShape="0" blurRad="76200" dist="25400" dir="8100000">
              <a:srgbClr val="000000">
                <a:alpha val="22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9716" y="1563624"/>
            <a:ext cx="347472" cy="34747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061972" y="1325880"/>
            <a:ext cx="256032" cy="256032"/>
          </a:xfrm>
          <a:prstGeom prst="ellipse">
            <a:avLst/>
          </a:prstGeom>
          <a:solidFill>
            <a:srgbClr val="EBF8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061972" y="1325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856232" y="21488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1892808" y="2697480"/>
            <a:ext cx="116128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1947672" y="274320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RAKE + spaCy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noun-phrase chunking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099816" y="1737360"/>
            <a:ext cx="146304" cy="0"/>
          </a:xfrm>
          <a:prstGeom prst="line">
            <a:avLst/>
          </a:prstGeom>
          <a:noFill/>
          <a:ln w="2540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3552444" y="1417320"/>
            <a:ext cx="640080" cy="640080"/>
          </a:xfrm>
          <a:prstGeom prst="ellipse">
            <a:avLst/>
          </a:prstGeom>
          <a:solidFill>
            <a:srgbClr val="3182CE"/>
          </a:solidFill>
          <a:ln/>
          <a:effectLst>
            <a:outerShdw sx="100000" sy="100000" kx="0" ky="0" algn="bl" rotWithShape="0" blurRad="76200" dist="25400" dir="8100000">
              <a:srgbClr val="000000">
                <a:alpha val="22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8748" y="1563624"/>
            <a:ext cx="347472" cy="347472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3461004" y="1325880"/>
            <a:ext cx="256032" cy="256032"/>
          </a:xfrm>
          <a:prstGeom prst="ellipse">
            <a:avLst/>
          </a:prstGeom>
          <a:solidFill>
            <a:srgbClr val="EBF8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461004" y="1325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3255264" y="21488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(Ri)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3291840" y="2697480"/>
            <a:ext cx="116128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3346704" y="274320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= keyword weights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= word+complexity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 = Ui / Bi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4498848" y="1737360"/>
            <a:ext cx="146304" cy="0"/>
          </a:xfrm>
          <a:prstGeom prst="line">
            <a:avLst/>
          </a:prstGeom>
          <a:noFill/>
          <a:ln w="2540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29" name="Shape 24"/>
          <p:cNvSpPr/>
          <p:nvPr/>
        </p:nvSpPr>
        <p:spPr>
          <a:xfrm>
            <a:off x="4951476" y="1417320"/>
            <a:ext cx="640080" cy="640080"/>
          </a:xfrm>
          <a:prstGeom prst="ellipse">
            <a:avLst/>
          </a:prstGeom>
          <a:solidFill>
            <a:srgbClr val="2C5282"/>
          </a:solidFill>
          <a:ln/>
          <a:effectLst>
            <a:outerShdw sx="100000" sy="100000" kx="0" ky="0" algn="bl" rotWithShape="0" blurRad="76200" dist="25400" dir="8100000">
              <a:srgbClr val="000000">
                <a:alpha val="22000"/>
              </a:srgbClr>
            </a:outerShdw>
          </a:effectLst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7780" y="1563624"/>
            <a:ext cx="347472" cy="347472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4860036" y="1325880"/>
            <a:ext cx="256032" cy="256032"/>
          </a:xfrm>
          <a:prstGeom prst="ellipse">
            <a:avLst/>
          </a:prstGeom>
          <a:solidFill>
            <a:srgbClr val="EBF8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4860036" y="1325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654296" y="21488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(Pi)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4690872" y="2697480"/>
            <a:ext cx="116128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Text 29"/>
          <p:cNvSpPr/>
          <p:nvPr/>
        </p:nvSpPr>
        <p:spPr>
          <a:xfrm>
            <a:off x="4745736" y="274320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 + rarity + richness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portability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redundancy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5897880" y="1737360"/>
            <a:ext cx="146304" cy="0"/>
          </a:xfrm>
          <a:prstGeom prst="line">
            <a:avLst/>
          </a:prstGeom>
          <a:noFill/>
          <a:ln w="2540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37" name="Shape 31"/>
          <p:cNvSpPr/>
          <p:nvPr/>
        </p:nvSpPr>
        <p:spPr>
          <a:xfrm>
            <a:off x="6350508" y="1417320"/>
            <a:ext cx="640080" cy="640080"/>
          </a:xfrm>
          <a:prstGeom prst="ellipse">
            <a:avLst/>
          </a:prstGeom>
          <a:solidFill>
            <a:srgbClr val="2B6CB0"/>
          </a:solidFill>
          <a:ln/>
          <a:effectLst>
            <a:outerShdw sx="100000" sy="100000" kx="0" ky="0" algn="bl" rotWithShape="0" blurRad="76200" dist="25400" dir="8100000">
              <a:srgbClr val="000000">
                <a:alpha val="22000"/>
              </a:srgbClr>
            </a:outerShdw>
          </a:effectLst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812" y="1563624"/>
            <a:ext cx="347472" cy="347472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6259068" y="1325880"/>
            <a:ext cx="256032" cy="256032"/>
          </a:xfrm>
          <a:prstGeom prst="ellipse">
            <a:avLst/>
          </a:prstGeom>
          <a:solidFill>
            <a:srgbClr val="EBF8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6259068" y="1325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1" name="Text 34"/>
          <p:cNvSpPr/>
          <p:nvPr/>
        </p:nvSpPr>
        <p:spPr>
          <a:xfrm>
            <a:off x="6053328" y="21488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6089904" y="2697480"/>
            <a:ext cx="116128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Text 36"/>
          <p:cNvSpPr/>
          <p:nvPr/>
        </p:nvSpPr>
        <p:spPr>
          <a:xfrm>
            <a:off x="6144768" y="274320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generic recs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crisis-specific recs</a:t>
            </a:r>
            <a:endParaRPr lang="en-US" sz="900" dirty="0"/>
          </a:p>
        </p:txBody>
      </p:sp>
      <p:sp>
        <p:nvSpPr>
          <p:cNvPr id="44" name="Shape 37"/>
          <p:cNvSpPr/>
          <p:nvPr/>
        </p:nvSpPr>
        <p:spPr>
          <a:xfrm>
            <a:off x="7296912" y="1737360"/>
            <a:ext cx="146304" cy="0"/>
          </a:xfrm>
          <a:prstGeom prst="line">
            <a:avLst/>
          </a:prstGeom>
          <a:noFill/>
          <a:ln w="25400">
            <a:solidFill>
              <a:srgbClr val="2B6CB0"/>
            </a:solidFill>
            <a:prstDash val="solid"/>
            <a:tailEnd type="triangle"/>
          </a:ln>
        </p:spPr>
      </p:sp>
      <p:sp>
        <p:nvSpPr>
          <p:cNvPr id="45" name="Shape 38"/>
          <p:cNvSpPr/>
          <p:nvPr/>
        </p:nvSpPr>
        <p:spPr>
          <a:xfrm>
            <a:off x="7749540" y="1417320"/>
            <a:ext cx="640080" cy="640080"/>
          </a:xfrm>
          <a:prstGeom prst="ellipse">
            <a:avLst/>
          </a:prstGeom>
          <a:solidFill>
            <a:srgbClr val="3182CE"/>
          </a:solidFill>
          <a:ln/>
          <a:effectLst>
            <a:outerShdw sx="100000" sy="100000" kx="0" ky="0" algn="bl" rotWithShape="0" blurRad="76200" dist="25400" dir="8100000">
              <a:srgbClr val="000000">
                <a:alpha val="22000"/>
              </a:srgbClr>
            </a:outerShdw>
          </a:effectLst>
        </p:spPr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5844" y="1563624"/>
            <a:ext cx="347472" cy="347472"/>
          </a:xfrm>
          <a:prstGeom prst="rect">
            <a:avLst/>
          </a:prstGeom>
        </p:spPr>
      </p:pic>
      <p:sp>
        <p:nvSpPr>
          <p:cNvPr id="47" name="Shape 39"/>
          <p:cNvSpPr/>
          <p:nvPr/>
        </p:nvSpPr>
        <p:spPr>
          <a:xfrm>
            <a:off x="7658100" y="1325880"/>
            <a:ext cx="256032" cy="256032"/>
          </a:xfrm>
          <a:prstGeom prst="ellipse">
            <a:avLst/>
          </a:prstGeom>
          <a:solidFill>
            <a:srgbClr val="EBF8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48" name="Text 40"/>
          <p:cNvSpPr/>
          <p:nvPr/>
        </p:nvSpPr>
        <p:spPr>
          <a:xfrm>
            <a:off x="7658100" y="1325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9" name="Text 41"/>
          <p:cNvSpPr/>
          <p:nvPr/>
        </p:nvSpPr>
        <p:spPr>
          <a:xfrm>
            <a:off x="7452360" y="21488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100" dirty="0"/>
          </a:p>
        </p:txBody>
      </p:sp>
      <p:sp>
        <p:nvSpPr>
          <p:cNvPr id="50" name="Shape 42"/>
          <p:cNvSpPr/>
          <p:nvPr/>
        </p:nvSpPr>
        <p:spPr>
          <a:xfrm>
            <a:off x="7488936" y="2697480"/>
            <a:ext cx="116128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1" name="Text 43"/>
          <p:cNvSpPr/>
          <p:nvPr/>
        </p:nvSpPr>
        <p:spPr>
          <a:xfrm>
            <a:off x="7543800" y="274320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Report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Figures, CSV, DOCX</a:t>
            </a:r>
            <a:endParaRPr lang="en-US" sz="900" dirty="0"/>
          </a:p>
        </p:txBody>
      </p:sp>
      <p:sp>
        <p:nvSpPr>
          <p:cNvPr id="52" name="Shape 44"/>
          <p:cNvSpPr/>
          <p:nvPr/>
        </p:nvSpPr>
        <p:spPr>
          <a:xfrm>
            <a:off x="731520" y="3794760"/>
            <a:ext cx="7680960" cy="502920"/>
          </a:xfrm>
          <a:prstGeom prst="rect">
            <a:avLst/>
          </a:prstGeom>
          <a:solidFill>
            <a:srgbClr val="EBF8FF"/>
          </a:solidFill>
          <a:ln w="10160">
            <a:solidFill>
              <a:srgbClr val="BEE3F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3" name="Text 45"/>
          <p:cNvSpPr/>
          <p:nvPr/>
        </p:nvSpPr>
        <p:spPr>
          <a:xfrm>
            <a:off x="914400" y="3822192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Formulas:   </a:t>
            </a:r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= Σ(taxonomy weights)   |   Bi = 0.10 × words + 0.20 × complexity (min 0.1)   |   Ri = Ui / Bi   |   Pi = Ri + rarity + richness + portability − redundancy</a:t>
            </a:r>
            <a:endParaRPr lang="en-US" sz="1100" dirty="0"/>
          </a:p>
        </p:txBody>
      </p:sp>
      <p:sp>
        <p:nvSpPr>
          <p:cNvPr id="54" name="Text 46"/>
          <p:cNvSpPr/>
          <p:nvPr/>
        </p:nvSpPr>
        <p:spPr>
          <a:xfrm>
            <a:off x="457200" y="484632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PSID_NLP_Crisis_Module_Final.ipynb  |  generate_psid_artifacts.py  |  63-entry crisis taxonomy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62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Recommendations &amp; What Changed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743200" cy="1417320"/>
          </a:xfrm>
          <a:prstGeom prst="rect">
            <a:avLst/>
          </a:prstGeom>
          <a:solidFill>
            <a:srgbClr val="FFF5F5"/>
          </a:solidFill>
          <a:ln w="10160">
            <a:solidFill>
              <a:srgbClr val="FEB2B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607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353312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52-question unranked corpus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priority scoring system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visual decision support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 budget constraint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80160" y="245059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B6CB0"/>
                </a:solidFill>
              </a:rPr>
              <a:t>▼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2788920"/>
            <a:ext cx="2743200" cy="1417320"/>
          </a:xfrm>
          <a:prstGeom prst="rect">
            <a:avLst/>
          </a:prstGeom>
          <a:solidFill>
            <a:srgbClr val="F0FFF4"/>
          </a:solidFill>
          <a:ln w="10160">
            <a:solidFill>
              <a:srgbClr val="9AE6B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28437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136392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questions, Pi-ranked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scoring (Ri → Pi)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figures + report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29.17 min under 30-min ceiling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1005840"/>
            <a:ext cx="53949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74720" y="10972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Recommendations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566160" y="1508760"/>
            <a:ext cx="201168" cy="20116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0" y="149961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CORE (6)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0" y="17830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Financial strain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0" y="20391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Work interruption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0" y="22951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Income continuity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0" y="255117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Government assistance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0" y="28072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Housing instability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0" y="3063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Wellbeing check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0" y="1508760"/>
            <a:ext cx="201168" cy="201168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149961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CRISIS-SPECIFIC (8)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35040" y="17830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Pandemic earnings loss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35040" y="20391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Emergency payments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35040" y="229514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Financial coping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35040" y="255117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Essential work exposure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35040" y="28072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Evacuation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35040" y="30632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Home damage severity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35040" y="33192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Disaster distress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35040" y="357530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Temporary housing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4434840"/>
            <a:ext cx="9144000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46227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system produces a compact, field-usable crisis module with transparent scoring and synchronized visual outputs.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484632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PSID_NLP_Optimization_Report_Final.html  |  PSID_Ranked_Questions_Final.csv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PSID Generic Crisis Module – Final Overview</dc:title>
  <dc:subject>PptxGenJS Presentation</dc:subject>
  <dc:creator>PSID Team</dc:creator>
  <cp:lastModifiedBy>PSID Team</cp:lastModifiedBy>
  <cp:revision>1</cp:revision>
  <dcterms:created xsi:type="dcterms:W3CDTF">2026-03-24T16:00:55Z</dcterms:created>
  <dcterms:modified xsi:type="dcterms:W3CDTF">2026-03-24T16:00:55Z</dcterms:modified>
</cp:coreProperties>
</file>