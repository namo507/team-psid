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534"/>
                </a:solidFill>
                <a:latin typeface="Aptos Display"/>
              </a:rPr>
              <a:t>PSID Crisis Module: What the Optimized Design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375"/>
                </a:solidFill>
                <a:latin typeface="Aptos"/>
              </a:rPr>
              <a:t>Validated portfolio metrics from the final ranked questionnaire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534"/>
                </a:solidFill>
                <a:latin typeface="Aptos"/>
              </a:rPr>
              <a:t>The final module keeps the questionnaire inside the 30-minute field constraint while preserving the highest-value, most portable crisis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4028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40280"/>
            <a:ext cx="51206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414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534"/>
                </a:solidFill>
                <a:latin typeface="Aptos"/>
              </a:rPr>
              <a:t>52 -&gt;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986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Candidate questions narrowed to deployable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24028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2240280"/>
            <a:ext cx="5120640" cy="6400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24414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534"/>
                </a:solidFill>
                <a:latin typeface="Aptos"/>
              </a:rPr>
              <a:t>29.17 /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28986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Selected module duration under hard interview 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6052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160520"/>
            <a:ext cx="5120640" cy="6400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3616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534"/>
                </a:solidFill>
                <a:latin typeface="Aptos"/>
              </a:rPr>
              <a:t>2.452 / 7.809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8188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Average / maximum Pi enhanced-priority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160520"/>
            <a:ext cx="5120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7880" y="4160520"/>
            <a:ext cx="51206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43616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534"/>
                </a:solidFill>
                <a:latin typeface="Aptos"/>
              </a:rPr>
              <a:t>14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62472" y="48188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Documentation-backed outputs: 6 generic core + 8 crisis-specific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8978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Selection outcome: 28 questions retained from 52 ranked candidates, consuming 97.2% of the 30-minute ceiling without exceeding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86375"/>
                </a:solidFill>
                <a:latin typeface="Aptos"/>
              </a:rPr>
              <a:t>Sources: psid_artifact_summary.json and generate_psid_artifacts.py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534"/>
                </a:solidFill>
                <a:latin typeface="Aptos Display"/>
              </a:rPr>
              <a:t>Highest-Value Questions and the Utility-Burden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375"/>
                </a:solidFill>
                <a:latin typeface="Aptos"/>
              </a:rPr>
              <a:t>The charts use the generated PNG artifacts directly to preserve the validated visual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5577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0" y="1143000"/>
            <a:ext cx="5577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Top-ranked questions by baseline utility-to-burden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2984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Utility vs burden profile across the integrated crisis corpus</a:t>
            </a:r>
          </a:p>
        </p:txBody>
      </p:sp>
      <p:pic>
        <p:nvPicPr>
          <p:cNvPr id="8" name="Picture 7" descr="fig_top_ranked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5920"/>
            <a:ext cx="5257800" cy="4160520"/>
          </a:xfrm>
          <a:prstGeom prst="rect">
            <a:avLst/>
          </a:prstGeom>
        </p:spPr>
      </p:pic>
      <p:pic>
        <p:nvPicPr>
          <p:cNvPr id="9" name="Picture 8" descr="fig_utility_vs_bur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45920"/>
            <a:ext cx="525780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Upper-left positions indicate better questions: higher utility and lower respondent burden. Larger bubbles reflect stronger ranking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86375"/>
                </a:solidFill>
                <a:latin typeface="Aptos"/>
              </a:rPr>
              <a:t>Embedded visuals: fig_top_ranked_questions.png and fig_utility_vs_burden.png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534"/>
                </a:solidFill>
                <a:latin typeface="Aptos Display"/>
              </a:rPr>
              <a:t>Coverage Across Constructs, Sources, and Time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375"/>
                </a:solidFill>
                <a:latin typeface="Aptos"/>
              </a:rPr>
              <a:t>Three complementary views show breadth of coverage, source integration, and budget discipline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68580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06640" y="1097280"/>
            <a:ext cx="4251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06640" y="3749039"/>
            <a:ext cx="42519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6187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Construct coverage by source</a:t>
            </a:r>
          </a:p>
        </p:txBody>
      </p:sp>
      <p:pic>
        <p:nvPicPr>
          <p:cNvPr id="8" name="Picture 7" descr="fig_construc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53796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35240" y="126187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Selected source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4592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Hurricane Katrina 2007: 13 selected</a:t>
            </a:r>
          </a:p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COVID-19: 8 selected</a:t>
            </a:r>
          </a:p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Govt Shutdown Income: 3 selected</a:t>
            </a:r>
          </a:p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Understanding Society: 3 selected</a:t>
            </a:r>
          </a:p>
          <a:p>
            <a:pPr>
              <a:defRPr sz="1200">
                <a:solidFill>
                  <a:srgbClr val="1C2534"/>
                </a:solidFill>
                <a:latin typeface="Aptos"/>
              </a:defRPr>
            </a:pPr>
            <a:r>
              <a:t>Govt Shutdown Crisis: 1 selected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1363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Time budget by toggle category</a:t>
            </a:r>
          </a:p>
        </p:txBody>
      </p:sp>
      <p:pic>
        <p:nvPicPr>
          <p:cNvPr id="12" name="Picture 11" descr="fig_time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4251960"/>
            <a:ext cx="3886200" cy="1847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86375"/>
                </a:solidFill>
                <a:latin typeface="Aptos"/>
              </a:rPr>
              <a:t>Embedded visuals: fig_construct_heatmap.png and fig_time_budget.png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534"/>
                </a:solidFill>
                <a:latin typeface="Aptos Display"/>
              </a:rPr>
              <a:t>Metrics That Are Easy to Explain to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375"/>
                </a:solidFill>
                <a:latin typeface="Aptos"/>
              </a:rPr>
              <a:t>The workflow balances interpretability, deployability, and evidence-backed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36576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143000"/>
            <a:ext cx="36576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0" y="1143000"/>
            <a:ext cx="3429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Core performance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19072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52 total ranked questions; 28 selected for the deployable module.</a:t>
            </a:r>
          </a:p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29.17 selected minutes versus 68.95 minutes for the full corpus.</a:t>
            </a:r>
          </a:p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Average Ri: 2.079; maximum Ri: 5.667.</a:t>
            </a:r>
          </a:p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Average Pi: 2.452; maximum Pi: 7.809.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35331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Simple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Ri answers a basic question: how much thematic value do we get per unit of burden?</a:t>
            </a:r>
          </a:p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Pi improves that score by rewarding rarer wording, richer construct coverage, and deployable phrasing while penalizing redundancy.</a:t>
            </a:r>
          </a:p>
          <a:p>
            <a:pPr>
              <a:defRPr sz="1300">
                <a:solidFill>
                  <a:srgbClr val="1C2534"/>
                </a:solidFill>
                <a:latin typeface="Aptos"/>
              </a:defRPr>
            </a:pPr>
            <a:r>
              <a:t>The selected module is near the cap because the workflow fills the available interview time with the highest-priority items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0768" y="135331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Recommendation outputs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783080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1783080"/>
            <a:ext cx="2788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98424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534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244144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Generic-core recommendations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3291840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3291840"/>
            <a:ext cx="2788920" cy="6400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49300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2534"/>
                </a:solidFill>
                <a:latin typeface="Aptos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950208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Crisis-specific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89204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Each recommendation is linked to documentation-backed patterns and supported by the highest-scoring matching questions in the corpus.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86375"/>
                </a:solidFill>
                <a:latin typeface="Aptos"/>
              </a:rPr>
              <a:t>Metrics derived from psid_artifact_summary.json and recommendation generation in generate_psid_artifacts.py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C2534"/>
                </a:solidFill>
                <a:latin typeface="Aptos Display"/>
              </a:rPr>
              <a:t>Computational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86375"/>
                </a:solidFill>
                <a:latin typeface="Aptos"/>
              </a:rPr>
              <a:t>From raw PSID source material to deployable, evidence-backed questionnaire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1965960" cy="21031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9659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581912"/>
            <a:ext cx="1746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34"/>
                </a:solidFill>
                <a:latin typeface="Aptos"/>
              </a:rPr>
              <a:t>1. Data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9384"/>
            <a:ext cx="17465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5 PSID-related sources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52 integrated candidate questions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Authoritative base CSV for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417320"/>
            <a:ext cx="1965960" cy="21031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417320"/>
            <a:ext cx="1965960" cy="109728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581912"/>
            <a:ext cx="1746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34"/>
                </a:solidFill>
                <a:latin typeface="Aptos"/>
              </a:rPr>
              <a:t>2. NLP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929384"/>
            <a:ext cx="17465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Keyword parsing and tagging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Construct extraction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Question-level feature assembly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17320"/>
            <a:ext cx="1965960" cy="21031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417320"/>
            <a:ext cx="1965960" cy="109728"/>
          </a:xfrm>
          <a:prstGeom prst="rect">
            <a:avLst/>
          </a:prstGeom>
          <a:solidFill>
            <a:srgbClr val="9D1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1581912"/>
            <a:ext cx="1746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34"/>
                </a:solidFill>
                <a:latin typeface="Aptos"/>
              </a:rPr>
              <a:t>3. Augmented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1929384"/>
            <a:ext cx="17465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TF-IDF rarity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Cosine redundancy penalty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Construct richness and portability bonus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1417320"/>
            <a:ext cx="1965960" cy="21031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0" y="1417320"/>
            <a:ext cx="196596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581912"/>
            <a:ext cx="1746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34"/>
                </a:solidFill>
                <a:latin typeface="Aptos"/>
              </a:rPr>
              <a:t>4. Selection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1929384"/>
            <a:ext cx="17465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Rank by Pi descending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Greedy fit to 30-minute cap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Deployable wording and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417320"/>
            <a:ext cx="2194560" cy="210312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2194560" cy="109728"/>
          </a:xfrm>
          <a:prstGeom prst="rect">
            <a:avLst/>
          </a:prstGeom>
          <a:solidFill>
            <a:srgbClr val="B4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581912"/>
            <a:ext cx="19751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534"/>
                </a:solidFill>
                <a:latin typeface="Aptos"/>
              </a:rPr>
              <a:t>5. Artifact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929384"/>
            <a:ext cx="19751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Final CSV with 25 columns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Dashboard data payload</a:t>
            </a:r>
          </a:p>
          <a:p>
            <a:pPr>
              <a:defRPr sz="1000">
                <a:solidFill>
                  <a:srgbClr val="586375"/>
                </a:solidFill>
                <a:latin typeface="Aptos"/>
              </a:defRPr>
            </a:pPr>
            <a:r>
              <a:t>PNG figures, report HTML, notebook outputs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2468880"/>
            <a:ext cx="228600" cy="0"/>
          </a:xfrm>
          <a:prstGeom prst="line">
            <a:avLst/>
          </a:prstGeom>
          <a:ln w="25400">
            <a:solidFill>
              <a:srgbClr val="5863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26280" y="2468880"/>
            <a:ext cx="228600" cy="0"/>
          </a:xfrm>
          <a:prstGeom prst="line">
            <a:avLst/>
          </a:prstGeom>
          <a:ln w="25400">
            <a:solidFill>
              <a:srgbClr val="5863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20840" y="2468880"/>
            <a:ext cx="228600" cy="0"/>
          </a:xfrm>
          <a:prstGeom prst="line">
            <a:avLst/>
          </a:prstGeom>
          <a:ln w="25400">
            <a:solidFill>
              <a:srgbClr val="5863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15400" y="2468880"/>
            <a:ext cx="228600" cy="0"/>
          </a:xfrm>
          <a:prstGeom prst="line">
            <a:avLst/>
          </a:prstGeom>
          <a:ln w="25400">
            <a:solidFill>
              <a:srgbClr val="5863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3977639"/>
            <a:ext cx="6583680" cy="1645920"/>
          </a:xfrm>
          <a:prstGeom prst="roundRect">
            <a:avLst/>
          </a:prstGeom>
          <a:solidFill>
            <a:srgbClr val="FFFCF5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41879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Enhanced priority formula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553712"/>
            <a:ext cx="6126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534"/>
                </a:solidFill>
                <a:latin typeface="Aptos"/>
              </a:rPr>
              <a:t>Pi = U* / [Bi x (1 + 0.65 x redundancy)]
U* = U x (1 + 0.32 x idf + 0.24 x construct + 0.12 x richness + portability)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3977639"/>
            <a:ext cx="4069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41879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C2534"/>
                </a:solidFill>
                <a:latin typeface="Aptos"/>
              </a:rPr>
              <a:t>Construct priority weights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553712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86375"/>
                </a:solidFill>
                <a:latin typeface="Aptos"/>
              </a:rPr>
              <a:t>Trauma/Health 0.58
Housing/Shelter 0.55
Government Aid 0.48
Financial Coping 0.45
Employment 0.42
Economic/Income 0.40
Demographics 0.14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586375"/>
                </a:solidFill>
                <a:latin typeface="Aptos"/>
              </a:rPr>
              <a:t>Implemented in generate_psid_artifacts.py via build_all() with TF-IDF, redundancy control, and recommendation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